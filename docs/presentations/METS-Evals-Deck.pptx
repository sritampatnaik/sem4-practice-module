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194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METS Evals</a:t>
            </a:r>
          </a:p>
          <a:p>
            <a:r>
              <a:rPr sz="2400" b="0">
                <a:solidFill>
                  <a:srgbClr val="FFFFFF"/>
                </a:solidFill>
                <a:latin typeface="Calibri"/>
              </a:rPr>
              <a:t>What they are &amp; why they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5F6368"/>
                </a:solidFill>
                <a:latin typeface="Calibri"/>
              </a:rPr>
              <a:t>Multi-Agent Educational &amp; Testing System
Singapore Primary · O-Level · A-Level tutor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Calibri"/>
              </a:rPr>
              <a:t>METS Team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What are evals?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F6368"/>
                </a:solidFill>
                <a:latin typeface="Calibri"/>
              </a:rPr>
              <a:t>Systematic checks that our AI tutor behaves correctly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C4043"/>
                </a:solidFill>
                <a:latin typeface="Calibri"/>
              </a:rPr>
              <a:t>Evaluations (evals) are repeatable tests that measure whether METS agents do the right thing — not just whether they produce text.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C4043"/>
                </a:solidFill>
                <a:latin typeface="Calibri"/>
              </a:rPr>
              <a:t>In METS, evals cover routing (Teaching vs Testing), subject selection, grade-band alignment, and assessment quality (MCQs &amp; flashcards).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C4043"/>
                </a:solidFill>
                <a:latin typeface="Calibri"/>
              </a:rPr>
              <a:t>Unlike ad-hoc manual chat tests, evals use fixed scenarios and profiles so we can compare results across prompt changes and model updates.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C4043"/>
                </a:solidFill>
                <a:latin typeface="Calibri"/>
              </a:rPr>
              <a:t>Goal: catch regressions early and give educators confidence that outputs are syllabus-aligned, safe, and pedagogically sound.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486400"/>
            <a:ext cx="8138160" cy="685800"/>
          </a:xfrm>
          <a:prstGeom prst="rect">
            <a:avLst/>
          </a:prstGeom>
          <a:solidFill>
            <a:srgbClr val="E8F0F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5961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C4"/>
                </a:solidFill>
                <a:latin typeface="Calibri"/>
              </a:rPr>
              <a:t>Evals answer: “Did the system behave correctly?” — not just “Did it reply?”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What we are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F6368"/>
                </a:solidFill>
                <a:latin typeface="Calibri"/>
              </a:rPr>
              <a:t>Foundations in place · planned eval layers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C4043"/>
                </a:solidFill>
                <a:latin typeface="Calibri"/>
              </a:rPr>
              <a:t>Testing harness — POST /api/testing-harness runs 6 fixture scenarios (Primary fractions, O-Level kinematics, JC differentiation, etc.) in isolation.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C4043"/>
                </a:solidFill>
                <a:latin typeface="Calibri"/>
              </a:rPr>
              <a:t>Observability — routing audit trail, prompt versioning, latency &amp; token logs in logs/prompts.jsonl and the Studio UI routing panel.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C4043"/>
                </a:solidFill>
                <a:latin typeface="Calibri"/>
              </a:rPr>
              <a:t>Schema validation — MCQ &amp; flashcard tool contracts (IDs, option counts, correctOptionId) enforced before widgets render.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C4043"/>
                </a:solidFill>
                <a:latin typeface="Calibri"/>
              </a:rPr>
              <a:t>Planned next — routing evals, RAG retrieval accuracy, verifier/marker for generated MCQs, and user-acceptance evaluation (Phase 4.2).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486400"/>
            <a:ext cx="8138160" cy="685800"/>
          </a:xfrm>
          <a:prstGeom prst="rect">
            <a:avLst/>
          </a:prstGeom>
          <a:solidFill>
            <a:srgbClr val="E8F0F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5961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C4"/>
                </a:solidFill>
                <a:latin typeface="Calibri"/>
              </a:rPr>
              <a:t>Today: harness + observability. Tomorrow: automated quality gates.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Why evals matter for METS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F6368"/>
                </a:solidFill>
                <a:latin typeface="Calibri"/>
              </a:rPr>
              <a:t>Trust, safety, and educational integrity in Singapore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C4043"/>
                </a:solidFill>
                <a:latin typeface="Calibri"/>
              </a:rPr>
              <a:t>Students depend on accurate explanations and fair assessments — evals guard against wrong answers, off-syllabus content, and inappropriate difficulty.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C4043"/>
                </a:solidFill>
                <a:latin typeface="Calibri"/>
              </a:rPr>
              <a:t>Educators need explainability — every routing decision is logged with rationale and confidence so misroutes can be audited and fixed.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C4043"/>
                </a:solidFill>
                <a:latin typeface="Calibri"/>
              </a:rPr>
              <a:t>Multi-agent systems fail silently — a bad router or weak Testing prompt can look fine in demo but break at scale; evals surface these early.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C4043"/>
                </a:solidFill>
                <a:latin typeface="Calibri"/>
              </a:rPr>
              <a:t>Singapore governance alignment — MOE EdTech goals and AI assurance require traceability, fairness, and curriculum grounding, not black-box replies.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486400"/>
            <a:ext cx="8138160" cy="685800"/>
          </a:xfrm>
          <a:prstGeom prst="rect">
            <a:avLst/>
          </a:prstGeom>
          <a:solidFill>
            <a:srgbClr val="E8F0F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5961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C4"/>
                </a:solidFill>
                <a:latin typeface="Calibri"/>
              </a:rPr>
              <a:t>Evals turn METS from a demo into a trustworthy educational product.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Roadmap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8046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F6368"/>
                </a:solidFill>
                <a:latin typeface="Calibri"/>
              </a:rPr>
              <a:t>How the team uses evals going 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795527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3C4043"/>
                </a:solidFill>
                <a:latin typeface="Calibri"/>
              </a:rPr>
              <a:t>Run live harness scenarios once OPENAI_API_KEY is configured; record widget choice, tool outputs, and grade-band fit for each fixture.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C4043"/>
                </a:solidFill>
                <a:latin typeface="Calibri"/>
              </a:rPr>
              <a:t>Add tool-contract checks — automated pass/fail on MCQ schema, flashcard structure, and performance-log writes.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C4043"/>
                </a:solidFill>
                <a:latin typeface="Calibri"/>
              </a:rPr>
              <a:t>Extend evals to Orchestration routing (intent, subject, grade band) and RAG retrieval accuracy across Math, Physics, and Chemistry.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3C4043"/>
                </a:solidFill>
                <a:latin typeface="Calibri"/>
              </a:rPr>
              <a:t>Build verifier/marker module — validate generated MCQ correctness and track student outcomes before Phase 4 user-acceptance evaluation.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486400"/>
            <a:ext cx="8138160" cy="685800"/>
          </a:xfrm>
          <a:prstGeom prst="rect">
            <a:avLst/>
          </a:prstGeom>
          <a:solidFill>
            <a:srgbClr val="E8F0FE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596128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56C4"/>
                </a:solidFill>
                <a:latin typeface="Calibri"/>
              </a:rPr>
              <a:t>Metric to watch: repeatable scenario pass rate + routing confidence.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